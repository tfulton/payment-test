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e8771212c64c0c" /><Relationship Type="http://schemas.openxmlformats.org/officeDocument/2006/relationships/extended-properties" Target="/docProps/app.xml" Id="Re6564d4bd2504171" /><Relationship Type="http://schemas.openxmlformats.org/officeDocument/2006/relationships/officeDocument" Target="/ppt/presentation.xml" Id="R4207559c77804e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c185f7fc1c4a3a"/>
  </p:sldMasterIdLst>
  <p:notesMasterIdLst>
    <p:notesMasterId xmlns:r="http://schemas.openxmlformats.org/officeDocument/2006/relationships" r:id="R3a149409f92f4e6d"/>
  </p:notesMasterIdLst>
  <p:sldIdLst>
    <p:sldId xmlns:r="http://schemas.openxmlformats.org/officeDocument/2006/relationships" id="256" r:id="Rbe5114eda1d7481f"/>
    <p:sldId xmlns:r="http://schemas.openxmlformats.org/officeDocument/2006/relationships" id="257" r:id="R6472ceb44f8f46ac"/>
    <p:sldId xmlns:r="http://schemas.openxmlformats.org/officeDocument/2006/relationships" id="258" r:id="Ra1ecc1b7cd6b4cdd"/>
    <p:sldId xmlns:r="http://schemas.openxmlformats.org/officeDocument/2006/relationships" id="259" r:id="R97a151fc2e3944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72908de6d34aaf" /><Relationship Type="http://schemas.openxmlformats.org/officeDocument/2006/relationships/slideMaster" Target="/ppt/slideMasters/slideMaster1.xml" Id="R7ac185f7fc1c4a3a" /><Relationship Type="http://schemas.openxmlformats.org/officeDocument/2006/relationships/notesMaster" Target="/ppt/notesMasters/notesMaster1.xml" Id="R3a149409f92f4e6d" /><Relationship Type="http://schemas.openxmlformats.org/officeDocument/2006/relationships/presProps" Target="/ppt/presProps.xml" Id="R73fc14e347734821" /><Relationship Type="http://schemas.openxmlformats.org/officeDocument/2006/relationships/tableStyles" Target="/ppt/tableStyles.xml" Id="R15b7bed3a2144d66" /><Relationship Type="http://schemas.openxmlformats.org/officeDocument/2006/relationships/slide" Target="/ppt/slides/slide1.xml" Id="Rbe5114eda1d7481f" /><Relationship Type="http://schemas.openxmlformats.org/officeDocument/2006/relationships/slide" Target="/ppt/slides/slide2.xml" Id="R6472ceb44f8f46ac" /><Relationship Type="http://schemas.openxmlformats.org/officeDocument/2006/relationships/slide" Target="/ppt/slides/slide3.xml" Id="Ra1ecc1b7cd6b4cdd" /><Relationship Type="http://schemas.openxmlformats.org/officeDocument/2006/relationships/slide" Target="/ppt/slides/slide4.xml" Id="R97a151fc2e3944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ccb20ff9dc48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8bbb13afb549b1" /><Relationship Type="http://schemas.openxmlformats.org/officeDocument/2006/relationships/notesMaster" Target="/ppt/notesMasters/notesMaster1.xml" Id="Reb90d6c5aa1748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659ae1e40d47f4" /><Relationship Type="http://schemas.openxmlformats.org/officeDocument/2006/relationships/notesMaster" Target="/ppt/notesMasters/notesMaster1.xml" Id="Rd761c20358b148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f46f9c1bbe49e4" /><Relationship Type="http://schemas.openxmlformats.org/officeDocument/2006/relationships/notesMaster" Target="/ppt/notesMasters/notesMaster1.xml" Id="R695d0042ca8241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40838a5b564e8f" /><Relationship Type="http://schemas.openxmlformats.org/officeDocument/2006/relationships/notesMaster" Target="/ppt/notesMasters/notesMaster1.xml" Id="R3f74c209c26545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297c08be942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77b5ae48f84d7b" /><Relationship Type="http://schemas.openxmlformats.org/officeDocument/2006/relationships/slideLayout" Target="/ppt/slideLayouts/slideLayout1.xml" Id="Rfd8bfdcb07114a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8bfdcb07114a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791086a744fff" /><Relationship Type="http://schemas.openxmlformats.org/officeDocument/2006/relationships/notesSlide" Target="/ppt/notesSlides/notesSlide1.xml" Id="R98ef0ff6863142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93d542abf49ce" /><Relationship Type="http://schemas.openxmlformats.org/officeDocument/2006/relationships/notesSlide" Target="/ppt/notesSlides/notesSlide2.xml" Id="R300b59a5616048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ef22186be4de8" /><Relationship Type="http://schemas.openxmlformats.org/officeDocument/2006/relationships/notesSlide" Target="/ppt/notesSlides/notesSlide3.xml" Id="Rc78f045c67054c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7240897464346" /><Relationship Type="http://schemas.openxmlformats.org/officeDocument/2006/relationships/notesSlide" Target="/ppt/notesSlides/notesSlide4.xml" Id="R09af9f54b5914e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51BD8FA-8DAF-479F-B4EE-864047CA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23492AF-85CC-49FF-9A2C-88F8FBCA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ISD SENIOR LEADERSHIP TEAM  •  JULY 2026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044A50BE-873B-44C2-988F-6DB42B7C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906000" cy="1962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8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Make cash-out feel like
an ISD experience</a:t>
            </a:r>
          </a:p>
        </p:txBody>
      </p:sp>
      <p:sp>
        <p:nvSpPr>
          <p:cNvPr id="4" name="recommendation">
            <a:extLst xmlns:a="http://schemas.openxmlformats.org/drawingml/2006/main">
              <a:ext uri="{FF2B5EF4-FFF2-40B4-BE49-F238E27FC236}">
                <a16:creationId xmlns:a16="http://schemas.microsoft.com/office/drawing/2014/main" id="{0E3A33B6-DA6E-46AE-AAB8-082A33C8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83343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2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Advance Plaid Transfer diligence; keep Checkbook Standard ready as fallback.</a:t>
            </a:r>
          </a:p>
        </p:txBody>
      </p:sp>
      <p:sp>
        <p:nvSpPr>
          <p:cNvPr id="5" name="decision-frame">
            <a:extLst xmlns:a="http://schemas.openxmlformats.org/drawingml/2006/main">
              <a:ext uri="{FF2B5EF4-FFF2-40B4-BE49-F238E27FC236}">
                <a16:creationId xmlns:a16="http://schemas.microsoft.com/office/drawing/2014/main" id="{7EF1C382-B7EB-4AF8-A071-93D81E38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000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Decision frame: improve the repeat experience without understating treasury, finance, and payment-operations ownership.</a:t>
            </a:r>
          </a:p>
        </p:txBody>
      </p:sp>
      <p:sp>
        <p:nvSpPr>
          <p:cNvPr id="6" name="source-1">
            <a:extLst xmlns:a="http://schemas.openxmlformats.org/drawingml/2006/main">
              <a:ext uri="{FF2B5EF4-FFF2-40B4-BE49-F238E27FC236}">
                <a16:creationId xmlns:a16="http://schemas.microsoft.com/office/drawing/2014/main" id="{D62CC017-72D2-49D0-8F31-CB8037A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5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47BE9127-6244-4B61-8DB9-CA19CEF3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91275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5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0759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C406411D-B432-461B-8A9A-2C7FCB59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144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5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Only Plaid Transfer removes the repeat handoff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A4BB18-D910-4E32-8880-522362A0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857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Findings from the evaluation — not a production-readiness claim</a:t>
            </a:r>
          </a:p>
        </p:txBody>
      </p:sp>
      <p:sp>
        <p:nvSpPr>
          <p:cNvPr id="3" name="FINDING-label-bg">
            <a:extLst xmlns:a="http://schemas.openxmlformats.org/drawingml/2006/main">
              <a:ext uri="{FF2B5EF4-FFF2-40B4-BE49-F238E27FC236}">
                <a16:creationId xmlns:a16="http://schemas.microsoft.com/office/drawing/2014/main" id="{8F676521-3E99-4384-BC0A-F2E64A12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INDING-label">
            <a:extLst xmlns:a="http://schemas.openxmlformats.org/drawingml/2006/main">
              <a:ext uri="{FF2B5EF4-FFF2-40B4-BE49-F238E27FC236}">
                <a16:creationId xmlns:a16="http://schemas.microsoft.com/office/drawing/2014/main" id="{CF971896-9BB4-4626-9BBF-CE7E3F85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FINDING</a:t>
            </a:r>
          </a:p>
        </p:txBody>
      </p:sp>
      <p:sp>
        <p:nvSpPr>
          <p:cNvPr id="5" name="FINDING-title">
            <a:extLst xmlns:a="http://schemas.openxmlformats.org/drawingml/2006/main">
              <a:ext uri="{FF2B5EF4-FFF2-40B4-BE49-F238E27FC236}">
                <a16:creationId xmlns:a16="http://schemas.microsoft.com/office/drawing/2014/main" id="{D7FD1C0D-5752-4AEE-BD3F-5F38083C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3333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0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Plaid Auth +
Checkbook Standard</a:t>
            </a:r>
          </a:p>
        </p:txBody>
      </p:sp>
      <p:sp>
        <p:nvSpPr>
          <p:cNvPr id="6" name="FINDING-body">
            <a:extLst xmlns:a="http://schemas.openxmlformats.org/drawingml/2006/main">
              <a:ext uri="{FF2B5EF4-FFF2-40B4-BE49-F238E27FC236}">
                <a16:creationId xmlns:a16="http://schemas.microsoft.com/office/drawing/2014/main" id="{E03DD5B1-9900-4FD5-A2C4-A4388622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3333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7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Plaid adds the initial bank connection, but each cash-out still sends the recipient to Checkbook.</a:t>
            </a:r>
          </a:p>
        </p:txBody>
      </p:sp>
      <p:sp>
        <p:nvSpPr>
          <p:cNvPr id="7" name="FINDING-rule">
            <a:extLst xmlns:a="http://schemas.openxmlformats.org/drawingml/2006/main">
              <a:ext uri="{FF2B5EF4-FFF2-40B4-BE49-F238E27FC236}">
                <a16:creationId xmlns:a16="http://schemas.microsoft.com/office/drawing/2014/main" id="{240BE71A-B49E-4E2D-A297-94514107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NDING-verdict">
            <a:extLst xmlns:a="http://schemas.openxmlformats.org/drawingml/2006/main">
              <a:ext uri="{FF2B5EF4-FFF2-40B4-BE49-F238E27FC236}">
                <a16:creationId xmlns:a16="http://schemas.microsoft.com/office/drawing/2014/main" id="{3FCF48FC-C5BF-4E29-9A94-40AD8DDA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33337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5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More complexity; the target repeat experience does not change.</a:t>
            </a:r>
          </a:p>
        </p:txBody>
      </p:sp>
      <p:sp>
        <p:nvSpPr>
          <p:cNvPr id="9" name="FINDING-label-bg">
            <a:extLst xmlns:a="http://schemas.openxmlformats.org/drawingml/2006/main">
              <a:ext uri="{FF2B5EF4-FFF2-40B4-BE49-F238E27FC236}">
                <a16:creationId xmlns:a16="http://schemas.microsoft.com/office/drawing/2014/main" id="{D18F5A5D-0C66-42AB-93A2-7C58E95B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INDING-label">
            <a:extLst xmlns:a="http://schemas.openxmlformats.org/drawingml/2006/main">
              <a:ext uri="{FF2B5EF4-FFF2-40B4-BE49-F238E27FC236}">
                <a16:creationId xmlns:a16="http://schemas.microsoft.com/office/drawing/2014/main" id="{BC86B283-D832-4ED5-A25C-B011598A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FINDING</a:t>
            </a:r>
          </a:p>
        </p:txBody>
      </p:sp>
      <p:sp>
        <p:nvSpPr>
          <p:cNvPr id="11" name="FINDING-title">
            <a:extLst xmlns:a="http://schemas.openxmlformats.org/drawingml/2006/main">
              <a:ext uri="{FF2B5EF4-FFF2-40B4-BE49-F238E27FC236}">
                <a16:creationId xmlns:a16="http://schemas.microsoft.com/office/drawing/2014/main" id="{8BECDFA5-7FE0-4465-89E2-A3653DAC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47900"/>
            <a:ext cx="3333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0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Plaid Auth +
Plaid Transfer</a:t>
            </a:r>
          </a:p>
        </p:txBody>
      </p:sp>
      <p:sp>
        <p:nvSpPr>
          <p:cNvPr id="12" name="FINDING-body">
            <a:extLst xmlns:a="http://schemas.openxmlformats.org/drawingml/2006/main">
              <a:ext uri="{FF2B5EF4-FFF2-40B4-BE49-F238E27FC236}">
                <a16:creationId xmlns:a16="http://schemas.microsoft.com/office/drawing/2014/main" id="{9C8E3748-1BB4-42D4-AA4E-DF4E5943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24200"/>
            <a:ext cx="3333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7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One bank connection can support later cash-outs inside ISD.</a:t>
            </a:r>
          </a:p>
        </p:txBody>
      </p:sp>
      <p:sp>
        <p:nvSpPr>
          <p:cNvPr id="13" name="FINDING-rule">
            <a:extLst xmlns:a="http://schemas.openxmlformats.org/drawingml/2006/main">
              <a:ext uri="{FF2B5EF4-FFF2-40B4-BE49-F238E27FC236}">
                <a16:creationId xmlns:a16="http://schemas.microsoft.com/office/drawing/2014/main" id="{9E872AF4-4498-40F9-90E9-E3761B04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529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INDING-verdict">
            <a:extLst xmlns:a="http://schemas.openxmlformats.org/drawingml/2006/main">
              <a:ext uri="{FF2B5EF4-FFF2-40B4-BE49-F238E27FC236}">
                <a16:creationId xmlns:a16="http://schemas.microsoft.com/office/drawing/2014/main" id="{66DF8C62-DAE8-4008-A46D-3C8D6FF9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5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Strongest customer result; advance to production diligence.</a:t>
            </a:r>
          </a:p>
        </p:txBody>
      </p:sp>
      <p:sp>
        <p:nvSpPr>
          <p:cNvPr id="15" name="FINDING + GAP-label-bg">
            <a:extLst xmlns:a="http://schemas.openxmlformats.org/drawingml/2006/main">
              <a:ext uri="{FF2B5EF4-FFF2-40B4-BE49-F238E27FC236}">
                <a16:creationId xmlns:a16="http://schemas.microsoft.com/office/drawing/2014/main" id="{2DCAC5C6-18D1-46EC-B490-47BB9F41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NDING + GAP-label">
            <a:extLst xmlns:a="http://schemas.openxmlformats.org/drawingml/2006/main">
              <a:ext uri="{FF2B5EF4-FFF2-40B4-BE49-F238E27FC236}">
                <a16:creationId xmlns:a16="http://schemas.microsoft.com/office/drawing/2014/main" id="{E245BA9F-5B6B-49A6-A603-D87BAEAD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FINDING + GAP</a:t>
            </a:r>
          </a:p>
        </p:txBody>
      </p:sp>
      <p:sp>
        <p:nvSpPr>
          <p:cNvPr id="17" name="FINDING + GAP-title">
            <a:extLst xmlns:a="http://schemas.openxmlformats.org/drawingml/2006/main">
              <a:ext uri="{FF2B5EF4-FFF2-40B4-BE49-F238E27FC236}">
                <a16:creationId xmlns:a16="http://schemas.microsoft.com/office/drawing/2014/main" id="{BD48838F-E9F9-4163-B6DC-9C482ED6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3333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0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Plaid Auth +
Checkbook Marketplace</a:t>
            </a:r>
          </a:p>
        </p:txBody>
      </p:sp>
      <p:sp>
        <p:nvSpPr>
          <p:cNvPr id="18" name="FINDING + GAP-body">
            <a:extLst xmlns:a="http://schemas.openxmlformats.org/drawingml/2006/main">
              <a:ext uri="{FF2B5EF4-FFF2-40B4-BE49-F238E27FC236}">
                <a16:creationId xmlns:a16="http://schemas.microsoft.com/office/drawing/2014/main" id="{4BA880D5-3AF1-4BFC-9C1F-D92A7740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3333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7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Wallet, linked-bank, funding, and payment flows were implemented. Sandbox wallet funding remained vendor-dependent.</a:t>
            </a:r>
          </a:p>
        </p:txBody>
      </p:sp>
      <p:sp>
        <p:nvSpPr>
          <p:cNvPr id="19" name="FINDING + GAP-rule">
            <a:extLst xmlns:a="http://schemas.openxmlformats.org/drawingml/2006/main">
              <a:ext uri="{FF2B5EF4-FFF2-40B4-BE49-F238E27FC236}">
                <a16:creationId xmlns:a16="http://schemas.microsoft.com/office/drawing/2014/main" id="{8B0EE74E-AF07-4B8F-953A-ABFA710F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529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INDING + GAP-verdict">
            <a:extLst xmlns:a="http://schemas.openxmlformats.org/drawingml/2006/main">
              <a:ext uri="{FF2B5EF4-FFF2-40B4-BE49-F238E27FC236}">
                <a16:creationId xmlns:a16="http://schemas.microsoft.com/office/drawing/2014/main" id="{DFBBA019-C66D-4BD6-AF43-B446694D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62500"/>
            <a:ext cx="33337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  <a:defRPr sz="15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Strategic wallet option; evidence is incomplete and dependency increases.</a:t>
            </a:r>
          </a:p>
        </p:txBody>
      </p:sp>
      <p:sp>
        <p:nvSpPr>
          <p:cNvPr id="21" name="source-2">
            <a:extLst xmlns:a="http://schemas.openxmlformats.org/drawingml/2006/main">
              <a:ext uri="{FF2B5EF4-FFF2-40B4-BE49-F238E27FC236}">
                <a16:creationId xmlns:a16="http://schemas.microsoft.com/office/drawing/2014/main" id="{B0A64A27-BB37-4E1D-9CF9-953FD4AB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5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Evidence: ISD evaluation and prototype work. Economics, coverage, and production reliability remain unvalidated.</a:t>
            </a:r>
          </a:p>
        </p:txBody>
      </p:sp>
      <p:sp>
        <p:nvSpPr>
          <p:cNvPr id="22" name="page-2">
            <a:extLst xmlns:a="http://schemas.openxmlformats.org/drawingml/2006/main">
              <a:ext uri="{FF2B5EF4-FFF2-40B4-BE49-F238E27FC236}">
                <a16:creationId xmlns:a16="http://schemas.microsoft.com/office/drawing/2014/main" id="{63D21268-4D9A-4BBF-B6AD-9A1C06C4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91275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5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1259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36ADE04F-C359-41B3-A69A-21715EA3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144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5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Start with primary/fallback routing — not optimization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C1D9A00-9BC9-4D55-9CEB-60B06BB1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07156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Add dynamic routing only after ISD has reliable operational and economic evidence.</a:t>
            </a:r>
          </a:p>
        </p:txBody>
      </p:sp>
      <p:sp>
        <p:nvSpPr>
          <p:cNvPr id="3" name="customer-card">
            <a:extLst xmlns:a="http://schemas.openxmlformats.org/drawingml/2006/main">
              <a:ext uri="{FF2B5EF4-FFF2-40B4-BE49-F238E27FC236}">
                <a16:creationId xmlns:a16="http://schemas.microsoft.com/office/drawing/2014/main" id="{A20A7EBA-28E9-4320-A4A0-81D50717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53816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siness-card">
            <a:extLst xmlns:a="http://schemas.openxmlformats.org/drawingml/2006/main">
              <a:ext uri="{FF2B5EF4-FFF2-40B4-BE49-F238E27FC236}">
                <a16:creationId xmlns:a16="http://schemas.microsoft.com/office/drawing/2014/main" id="{54A9A58B-EED5-4844-984F-B22109D1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57721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ustomer-accent">
            <a:extLst xmlns:a="http://schemas.openxmlformats.org/drawingml/2006/main">
              <a:ext uri="{FF2B5EF4-FFF2-40B4-BE49-F238E27FC236}">
                <a16:creationId xmlns:a16="http://schemas.microsoft.com/office/drawing/2014/main" id="{AC095892-F496-4E39-A530-3F19C9F1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1143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siness-accent">
            <a:extLst xmlns:a="http://schemas.openxmlformats.org/drawingml/2006/main">
              <a:ext uri="{FF2B5EF4-FFF2-40B4-BE49-F238E27FC236}">
                <a16:creationId xmlns:a16="http://schemas.microsoft.com/office/drawing/2014/main" id="{CFA2039B-2FCF-4C90-90E3-3B56A45E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1143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ustomer-header">
            <a:extLst xmlns:a="http://schemas.openxmlformats.org/drawingml/2006/main">
              <a:ext uri="{FF2B5EF4-FFF2-40B4-BE49-F238E27FC236}">
                <a16:creationId xmlns:a16="http://schemas.microsoft.com/office/drawing/2014/main" id="{7E59A66A-B316-4DC3-8FC9-99A6659F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466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2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Customer path</a:t>
            </a:r>
          </a:p>
        </p:txBody>
      </p:sp>
      <p:sp>
        <p:nvSpPr>
          <p:cNvPr id="8" name="customer-body">
            <a:extLst xmlns:a="http://schemas.openxmlformats.org/drawingml/2006/main">
              <a:ext uri="{FF2B5EF4-FFF2-40B4-BE49-F238E27FC236}">
                <a16:creationId xmlns:a16="http://schemas.microsoft.com/office/drawing/2014/main" id="{0BA5CEE6-2CEE-4996-B4AD-B0AAEF3C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4667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  Connect a bank once through Plaid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  Cash out inside the ISD experience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  Use Checkbook Standard when fallback is required</a:t>
            </a:r>
          </a:p>
        </p:txBody>
      </p:sp>
      <p:sp>
        <p:nvSpPr>
          <p:cNvPr id="9" name="business-header">
            <a:extLst xmlns:a="http://schemas.openxmlformats.org/drawingml/2006/main">
              <a:ext uri="{FF2B5EF4-FFF2-40B4-BE49-F238E27FC236}">
                <a16:creationId xmlns:a16="http://schemas.microsoft.com/office/drawing/2014/main" id="{071692DF-7CED-4A62-8611-2845C9CA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2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ISD operating obligation</a:t>
            </a:r>
          </a:p>
        </p:txBody>
      </p:sp>
      <p:sp>
        <p:nvSpPr>
          <p:cNvPr id="10" name="business-body">
            <a:extLst xmlns:a="http://schemas.openxmlformats.org/drawingml/2006/main">
              <a:ext uri="{FF2B5EF4-FFF2-40B4-BE49-F238E27FC236}">
                <a16:creationId xmlns:a16="http://schemas.microsoft.com/office/drawing/2014/main" id="{34AA2EFC-52C3-42BA-A9C4-AA33D924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28950"/>
            <a:ext cx="495300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5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Fund and monitor the Plaid Ledger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5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Reconcile cash and transactions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5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Manage liquidity, reserves, and limits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Own returns, failures, support, and duplicate prevention</a:t>
            </a:r>
          </a:p>
        </p:txBody>
      </p:sp>
      <p:sp>
        <p:nvSpPr>
          <p:cNvPr id="11" name="routing-band">
            <a:extLst xmlns:a="http://schemas.openxmlformats.org/drawingml/2006/main">
              <a:ext uri="{FF2B5EF4-FFF2-40B4-BE49-F238E27FC236}">
                <a16:creationId xmlns:a16="http://schemas.microsoft.com/office/drawing/2014/main" id="{5ADA2A90-282B-4538-A59E-71C67EA0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uting-band-text">
            <a:extLst xmlns:a="http://schemas.openxmlformats.org/drawingml/2006/main">
              <a:ext uri="{FF2B5EF4-FFF2-40B4-BE49-F238E27FC236}">
                <a16:creationId xmlns:a16="http://schemas.microsoft.com/office/drawing/2014/main" id="{CE5BBA68-C7E5-437B-8580-3B9A54EB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96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Routing v1 = Plaid Transfer primary + Checkbook Standard fallback.  Availability, eligibility, reliability, and cost optimization are later capabilities.</a:t>
            </a:r>
          </a:p>
        </p:txBody>
      </p:sp>
      <p:sp>
        <p:nvSpPr>
          <p:cNvPr id="13" name="source-3">
            <a:extLst xmlns:a="http://schemas.openxmlformats.org/drawingml/2006/main">
              <a:ext uri="{FF2B5EF4-FFF2-40B4-BE49-F238E27FC236}">
                <a16:creationId xmlns:a16="http://schemas.microsoft.com/office/drawing/2014/main" id="{13F1A93D-B66A-46DB-8D5B-578E769E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5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4" name="page-3">
            <a:extLst xmlns:a="http://schemas.openxmlformats.org/drawingml/2006/main">
              <a:ext uri="{FF2B5EF4-FFF2-40B4-BE49-F238E27FC236}">
                <a16:creationId xmlns:a16="http://schemas.microsoft.com/office/drawing/2014/main" id="{A9B4E388-9131-4B2F-96EE-C5526A49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91275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5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7727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08E0688E-79A7-40C4-8E86-5CC24A13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144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5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Authorize diligence — not a production launch</a:t>
            </a:r>
          </a:p>
        </p:txBody>
      </p:sp>
      <p:sp>
        <p:nvSpPr>
          <p:cNvPr id="2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A5F0D9C4-974E-4B2F-92DF-09398D1E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 REQUESTED</a:t>
            </a:r>
          </a:p>
        </p:txBody>
      </p:sp>
      <p:sp>
        <p:nvSpPr>
          <p:cNvPr id="3" name="decision">
            <a:extLst xmlns:a="http://schemas.openxmlformats.org/drawingml/2006/main">
              <a:ext uri="{FF2B5EF4-FFF2-40B4-BE49-F238E27FC236}">
                <a16:creationId xmlns:a16="http://schemas.microsoft.com/office/drawing/2014/main" id="{BFFBD25E-E05E-4188-B121-310B4DDD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542925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spcAft>
                <a:spcPts val="0"/>
              </a:spcAft>
              <a:buNone/>
              <a:defRPr sz="25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Approve a cross-functional readiness phase with explicit exit gates, while preserving Checkbook Standard.</a:t>
            </a:r>
          </a:p>
        </p:txBody>
      </p:sp>
      <p:sp>
        <p:nvSpPr>
          <p:cNvPr id="4" name="marketplace">
            <a:extLst xmlns:a="http://schemas.openxmlformats.org/drawingml/2006/main">
              <a:ext uri="{FF2B5EF4-FFF2-40B4-BE49-F238E27FC236}">
                <a16:creationId xmlns:a16="http://schemas.microsoft.com/office/drawing/2014/main" id="{689AECBE-4155-471F-8BAC-810C1A21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Separate strategic choice</a:t>
            </a:r>
          </a:p>
        </p:txBody>
      </p:sp>
      <p:sp>
        <p:nvSpPr>
          <p:cNvPr id="5" name="marketplace-body">
            <a:extLst xmlns:a="http://schemas.openxmlformats.org/drawingml/2006/main">
              <a:ext uri="{FF2B5EF4-FFF2-40B4-BE49-F238E27FC236}">
                <a16:creationId xmlns:a16="http://schemas.microsoft.com/office/drawing/2014/main" id="{809029E2-9B61-47D0-94A8-2F2BA80B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53816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Pursue Checkbook Marketplace only if ISD intentionally wants provider-hosted wallets or balances — not as an incremental cash-out improvement.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39953EC7-E466-433A-BA24-BE21AC4A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04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heck-1-number">
            <a:extLst xmlns:a="http://schemas.openxmlformats.org/drawingml/2006/main">
              <a:ext uri="{FF2B5EF4-FFF2-40B4-BE49-F238E27FC236}">
                <a16:creationId xmlns:a16="http://schemas.microsoft.com/office/drawing/2014/main" id="{227DF420-0C9E-447C-9F6C-A80F1BF8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52575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check-1-title">
            <a:extLst xmlns:a="http://schemas.openxmlformats.org/drawingml/2006/main">
              <a:ext uri="{FF2B5EF4-FFF2-40B4-BE49-F238E27FC236}">
                <a16:creationId xmlns:a16="http://schemas.microsoft.com/office/drawing/2014/main" id="{81EE79CD-720D-4AA6-8B04-C3DB00B3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85900"/>
            <a:ext cx="424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Name accountable owners</a:t>
            </a:r>
          </a:p>
        </p:txBody>
      </p:sp>
      <p:sp>
        <p:nvSpPr>
          <p:cNvPr id="9" name="check-1-detail">
            <a:extLst xmlns:a="http://schemas.openxmlformats.org/drawingml/2006/main">
              <a:ext uri="{FF2B5EF4-FFF2-40B4-BE49-F238E27FC236}">
                <a16:creationId xmlns:a16="http://schemas.microsoft.com/office/drawing/2014/main" id="{92A1FD50-5DC7-445B-8CD1-135415ED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781175"/>
            <a:ext cx="4248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Product, Treasury, Finance, Operations, Engineering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9727E92E-4773-4C82-85F9-DB6F1B4F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eck-2-number">
            <a:extLst xmlns:a="http://schemas.openxmlformats.org/drawingml/2006/main">
              <a:ext uri="{FF2B5EF4-FFF2-40B4-BE49-F238E27FC236}">
                <a16:creationId xmlns:a16="http://schemas.microsoft.com/office/drawing/2014/main" id="{27A996BF-94BE-4B57-9F49-8D19C759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52675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check-2-title">
            <a:extLst xmlns:a="http://schemas.openxmlformats.org/drawingml/2006/main">
              <a:ext uri="{FF2B5EF4-FFF2-40B4-BE49-F238E27FC236}">
                <a16:creationId xmlns:a16="http://schemas.microsoft.com/office/drawing/2014/main" id="{06F74C7E-503B-401C-884F-068267DE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424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Validate commercial and approval terms</a:t>
            </a:r>
          </a:p>
        </p:txBody>
      </p:sp>
      <p:sp>
        <p:nvSpPr>
          <p:cNvPr id="13" name="check-2-detail">
            <a:extLst xmlns:a="http://schemas.openxmlformats.org/drawingml/2006/main">
              <a:ext uri="{FF2B5EF4-FFF2-40B4-BE49-F238E27FC236}">
                <a16:creationId xmlns:a16="http://schemas.microsoft.com/office/drawing/2014/main" id="{C81F221C-E546-4FD0-9081-12A94C42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81275"/>
            <a:ext cx="4248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Eligibility, pricing, limits, reserves, and production approval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E4B01A95-7B66-4140-B33B-CE05335E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-3-number">
            <a:extLst xmlns:a="http://schemas.openxmlformats.org/drawingml/2006/main">
              <a:ext uri="{FF2B5EF4-FFF2-40B4-BE49-F238E27FC236}">
                <a16:creationId xmlns:a16="http://schemas.microsoft.com/office/drawing/2014/main" id="{08271A8E-FFCC-4E74-8DDF-4AE5937F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52775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check-3-title">
            <a:extLst xmlns:a="http://schemas.openxmlformats.org/drawingml/2006/main">
              <a:ext uri="{FF2B5EF4-FFF2-40B4-BE49-F238E27FC236}">
                <a16:creationId xmlns:a16="http://schemas.microsoft.com/office/drawing/2014/main" id="{E188B752-284B-47A4-906A-E378A432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86100"/>
            <a:ext cx="424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the money and control model</a:t>
            </a:r>
          </a:p>
        </p:txBody>
      </p:sp>
      <p:sp>
        <p:nvSpPr>
          <p:cNvPr id="17" name="check-3-detail">
            <a:extLst xmlns:a="http://schemas.openxmlformats.org/drawingml/2006/main">
              <a:ext uri="{FF2B5EF4-FFF2-40B4-BE49-F238E27FC236}">
                <a16:creationId xmlns:a16="http://schemas.microsoft.com/office/drawing/2014/main" id="{CDD24E55-8A2B-4EB3-A213-409A7FAC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81375"/>
            <a:ext cx="4248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Ledger funding, liquidity, reconciliation, and auditability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00C25E62-A60E-48EE-959C-B1CA1B4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05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heck-4-number">
            <a:extLst xmlns:a="http://schemas.openxmlformats.org/drawingml/2006/main">
              <a:ext uri="{FF2B5EF4-FFF2-40B4-BE49-F238E27FC236}">
                <a16:creationId xmlns:a16="http://schemas.microsoft.com/office/drawing/2014/main" id="{9A466D08-A816-4F89-837D-02C9C908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52875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check-4-title">
            <a:extLst xmlns:a="http://schemas.openxmlformats.org/drawingml/2006/main">
              <a:ext uri="{FF2B5EF4-FFF2-40B4-BE49-F238E27FC236}">
                <a16:creationId xmlns:a16="http://schemas.microsoft.com/office/drawing/2014/main" id="{CC52E4AD-D00D-4295-B100-FC69CF7E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86200"/>
            <a:ext cx="424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Prove exception operations</a:t>
            </a:r>
          </a:p>
        </p:txBody>
      </p:sp>
      <p:sp>
        <p:nvSpPr>
          <p:cNvPr id="21" name="check-4-detail">
            <a:extLst xmlns:a="http://schemas.openxmlformats.org/drawingml/2006/main">
              <a:ext uri="{FF2B5EF4-FFF2-40B4-BE49-F238E27FC236}">
                <a16:creationId xmlns:a16="http://schemas.microsoft.com/office/drawing/2014/main" id="{36102792-AC0C-438C-BA70-C3DAA749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81475"/>
            <a:ext cx="4248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Returns, failures, support, duplicate prevention, fallback triggers</a:t>
            </a:r>
          </a:p>
        </p:txBody>
      </p:sp>
      <p:sp>
        <p:nvSpPr>
          <p:cNvPr id="22" name="check-5">
            <a:extLst xmlns:a="http://schemas.openxmlformats.org/drawingml/2006/main">
              <a:ext uri="{FF2B5EF4-FFF2-40B4-BE49-F238E27FC236}">
                <a16:creationId xmlns:a16="http://schemas.microsoft.com/office/drawing/2014/main" id="{CD7DD3A1-F07E-4C61-971A-CBEA9738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05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heck-5-number">
            <a:extLst xmlns:a="http://schemas.openxmlformats.org/drawingml/2006/main">
              <a:ext uri="{FF2B5EF4-FFF2-40B4-BE49-F238E27FC236}">
                <a16:creationId xmlns:a16="http://schemas.microsoft.com/office/drawing/2014/main" id="{EC77CC41-F7CD-4DDF-A2A8-D13C33B7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52975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4" name="check-5-title">
            <a:extLst xmlns:a="http://schemas.openxmlformats.org/drawingml/2006/main">
              <a:ext uri="{FF2B5EF4-FFF2-40B4-BE49-F238E27FC236}">
                <a16:creationId xmlns:a16="http://schemas.microsoft.com/office/drawing/2014/main" id="{72881455-1242-49E7-B70F-12E70BB3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86300"/>
            <a:ext cx="424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Set pilot gates</a:t>
            </a:r>
          </a:p>
        </p:txBody>
      </p:sp>
      <p:sp>
        <p:nvSpPr>
          <p:cNvPr id="25" name="check-5-detail">
            <a:extLst xmlns:a="http://schemas.openxmlformats.org/drawingml/2006/main">
              <a:ext uri="{FF2B5EF4-FFF2-40B4-BE49-F238E27FC236}">
                <a16:creationId xmlns:a16="http://schemas.microsoft.com/office/drawing/2014/main" id="{3686B8D0-CEAA-4CBE-ADB4-9B8DA2DE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81575"/>
            <a:ext cx="4248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Success measures, exposure limits, rollback, and launch authority</a:t>
            </a:r>
          </a:p>
        </p:txBody>
      </p:sp>
      <p:sp>
        <p:nvSpPr>
          <p:cNvPr id="26" name="assumption-band">
            <a:extLst xmlns:a="http://schemas.openxmlformats.org/drawingml/2006/main">
              <a:ext uri="{FF2B5EF4-FFF2-40B4-BE49-F238E27FC236}">
                <a16:creationId xmlns:a16="http://schemas.microsoft.com/office/drawing/2014/main" id="{AB8146F3-2361-4AC8-8D3C-838284DD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assumptions">
            <a:extLst xmlns:a="http://schemas.openxmlformats.org/drawingml/2006/main">
              <a:ext uri="{FF2B5EF4-FFF2-40B4-BE49-F238E27FC236}">
                <a16:creationId xmlns:a16="http://schemas.microsoft.com/office/drawing/2014/main" id="{3FE3A619-4650-4B8A-A6A2-7F666BF7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1101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0"/>
              </a:spcAft>
              <a:buNone/>
              <a:defRPr sz="12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ASSUMPTIONS TO TEST  •  user coverage  •  acceptable economics  •  safe fallback  •  treasury capacity</a:t>
            </a:r>
          </a:p>
        </p:txBody>
      </p:sp>
      <p:sp>
        <p:nvSpPr>
          <p:cNvPr id="28" name="source-4">
            <a:extLst xmlns:a="http://schemas.openxmlformats.org/drawingml/2006/main">
              <a:ext uri="{FF2B5EF4-FFF2-40B4-BE49-F238E27FC236}">
                <a16:creationId xmlns:a16="http://schemas.microsoft.com/office/drawing/2014/main" id="{C37E27A0-6EC1-47BC-8472-9C53634D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5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29" name="page-4">
            <a:extLst xmlns:a="http://schemas.openxmlformats.org/drawingml/2006/main">
              <a:ext uri="{FF2B5EF4-FFF2-40B4-BE49-F238E27FC236}">
                <a16:creationId xmlns:a16="http://schemas.microsoft.com/office/drawing/2014/main" id="{985BE04B-D015-4902-B5CF-D6054903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91275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5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32670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2026-07-22T17:18:46.8330000Z</dcterms:created>
  <dcterms:modified xsi:type="dcterms:W3CDTF">2026-07-22T17:18:46.8330000Z</dcterms:modified>
</coreProperties>
</file>